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57" r:id="rId4"/>
    <p:sldId id="261" r:id="rId5"/>
    <p:sldId id="267" r:id="rId6"/>
    <p:sldId id="258" r:id="rId7"/>
    <p:sldId id="266" r:id="rId8"/>
    <p:sldId id="259" r:id="rId9"/>
    <p:sldId id="262" r:id="rId10"/>
    <p:sldId id="263" r:id="rId11"/>
    <p:sldId id="264" r:id="rId12"/>
    <p:sldId id="265"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755"/>
  </p:normalViewPr>
  <p:slideViewPr>
    <p:cSldViewPr snapToGrid="0">
      <p:cViewPr>
        <p:scale>
          <a:sx n="106" d="100"/>
          <a:sy n="106" d="100"/>
        </p:scale>
        <p:origin x="98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A07C6-AFE6-500B-8D37-FA2ACEA159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64E814-ECF1-7974-6D6D-1D3EB96F05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C31ADF-44B8-9FDF-09FE-7488FE4E8861}"/>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5" name="Footer Placeholder 4">
            <a:extLst>
              <a:ext uri="{FF2B5EF4-FFF2-40B4-BE49-F238E27FC236}">
                <a16:creationId xmlns:a16="http://schemas.microsoft.com/office/drawing/2014/main" id="{CC70D9DF-1EE4-A61F-4C0C-B57E5D319E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F84141-ABCF-BA68-AAEC-8FDCB1EB2511}"/>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1506753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B717C-2091-998B-E0BE-E1A565AB56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C4225B-5314-CDA0-5EE7-113D4A3DB6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49DF0F-8202-4C00-C81E-B3F40F406213}"/>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5" name="Footer Placeholder 4">
            <a:extLst>
              <a:ext uri="{FF2B5EF4-FFF2-40B4-BE49-F238E27FC236}">
                <a16:creationId xmlns:a16="http://schemas.microsoft.com/office/drawing/2014/main" id="{C28642C4-FA30-0C36-FD64-DBF5E60D6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316BB2-AD28-8529-86A2-852A8EDFF5F8}"/>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3362651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C7A21-C661-46B8-CC1A-463C025DD0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3B6D61-8D84-842B-E4CB-B7722FFD26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0C3793-35A6-645B-EADE-1C4328771F30}"/>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5" name="Footer Placeholder 4">
            <a:extLst>
              <a:ext uri="{FF2B5EF4-FFF2-40B4-BE49-F238E27FC236}">
                <a16:creationId xmlns:a16="http://schemas.microsoft.com/office/drawing/2014/main" id="{908B5BF5-B686-C6DB-1117-E33C677A1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CB4F2-22FD-368F-4BC5-8BECF8FBD8E5}"/>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226173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F2DD2-5E41-5301-4248-531BA66862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2901A2-15B3-18DF-A696-045375A278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A0B966-81E0-2E19-CE9F-55A27D108E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E9411A-A3A1-84B8-2065-C0BD49D47A40}"/>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6" name="Footer Placeholder 5">
            <a:extLst>
              <a:ext uri="{FF2B5EF4-FFF2-40B4-BE49-F238E27FC236}">
                <a16:creationId xmlns:a16="http://schemas.microsoft.com/office/drawing/2014/main" id="{411FFB84-8A4F-2568-88C3-AE9F5B32F4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BC2119-7E48-F356-A8E4-79FBE1B3A78C}"/>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2834387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E51CC-1A01-B184-6ED5-E4FDCD61BD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CE2BCD-84B3-5DE0-F3DB-1ABE031693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0B75EA-8629-8D03-95CA-3910F6B7B9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AD59A8-D441-9882-63AE-2EE2BFC8FC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17DED7-6161-5DCA-3654-484E26832B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19078E-BB6F-12E6-064C-46BD0C7F204B}"/>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8" name="Footer Placeholder 7">
            <a:extLst>
              <a:ext uri="{FF2B5EF4-FFF2-40B4-BE49-F238E27FC236}">
                <a16:creationId xmlns:a16="http://schemas.microsoft.com/office/drawing/2014/main" id="{5FC7ACC7-16FE-FCAA-3299-FE7AD15A9E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B80CAF-11E7-8CF9-62B7-1A980B253CB6}"/>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3717233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2E955-AA78-707D-6B43-9809FCACFE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A36F31-D325-89D0-09DB-8410E3369622}"/>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4" name="Footer Placeholder 3">
            <a:extLst>
              <a:ext uri="{FF2B5EF4-FFF2-40B4-BE49-F238E27FC236}">
                <a16:creationId xmlns:a16="http://schemas.microsoft.com/office/drawing/2014/main" id="{BD2B474B-64C3-4E73-4C86-09DF14DD9F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E186FD-FD61-973C-884C-DB2FAAF63FC8}"/>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59696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F9343A-7F96-E580-198F-59553F73F338}"/>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3" name="Footer Placeholder 2">
            <a:extLst>
              <a:ext uri="{FF2B5EF4-FFF2-40B4-BE49-F238E27FC236}">
                <a16:creationId xmlns:a16="http://schemas.microsoft.com/office/drawing/2014/main" id="{61228E16-322E-F81D-0629-31621E5B2C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418F3F-87BC-2CA5-C79B-B38A69831C37}"/>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359609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52C5-07CA-5975-3A83-E97A6682A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D47CC8-D7EC-723B-91E4-DD5C5C5E05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0129E-FCEB-457A-6C94-04D27FD830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80BFB-95AC-3E47-ED55-CF74F4641BC5}"/>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6" name="Footer Placeholder 5">
            <a:extLst>
              <a:ext uri="{FF2B5EF4-FFF2-40B4-BE49-F238E27FC236}">
                <a16:creationId xmlns:a16="http://schemas.microsoft.com/office/drawing/2014/main" id="{DC4F8B99-9B06-85F6-B3B7-74970FDC84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C8CF5F-9192-C95D-46D2-CEAA5D8DAA38}"/>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2660062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AE79-9F8E-9E75-C668-014A08CC75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F7C300-CB69-A209-4916-0831265D0B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4D51B5-3558-467A-D5B4-588BFDCBB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A47B12-BFB2-EB3D-0A23-2E7AB8829E48}"/>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6" name="Footer Placeholder 5">
            <a:extLst>
              <a:ext uri="{FF2B5EF4-FFF2-40B4-BE49-F238E27FC236}">
                <a16:creationId xmlns:a16="http://schemas.microsoft.com/office/drawing/2014/main" id="{82ABAAA6-0E57-FF0C-2512-E85A38F67A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E83E2A-8924-66D9-0FB0-F4468491B622}"/>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1405967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97FD2-8549-E053-984D-0594431CA5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70BAF9-CFBE-9026-C5AB-F6DD3DB8E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EB823-2949-69F5-111B-2D0F4DEE0F4C}"/>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5" name="Footer Placeholder 4">
            <a:extLst>
              <a:ext uri="{FF2B5EF4-FFF2-40B4-BE49-F238E27FC236}">
                <a16:creationId xmlns:a16="http://schemas.microsoft.com/office/drawing/2014/main" id="{4B4E8BDF-2968-D9BA-A864-5C7F0CDF90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445FB-E85E-C434-0493-E84CFC35F206}"/>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1332302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E5FEF-08FF-4205-9679-B267E26C34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084EAC-09BA-ED11-4194-6835C6E02E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84BA65-8ECC-75C2-9855-00058965FBA4}"/>
              </a:ext>
            </a:extLst>
          </p:cNvPr>
          <p:cNvSpPr>
            <a:spLocks noGrp="1"/>
          </p:cNvSpPr>
          <p:nvPr>
            <p:ph type="dt" sz="half" idx="10"/>
          </p:nvPr>
        </p:nvSpPr>
        <p:spPr/>
        <p:txBody>
          <a:bodyPr/>
          <a:lstStyle/>
          <a:p>
            <a:fld id="{499DEA6F-722D-3640-B6D4-3862F9E02A8D}" type="datetimeFigureOut">
              <a:rPr lang="en-US" smtClean="0"/>
              <a:t>11/24/25</a:t>
            </a:fld>
            <a:endParaRPr lang="en-US"/>
          </a:p>
        </p:txBody>
      </p:sp>
      <p:sp>
        <p:nvSpPr>
          <p:cNvPr id="5" name="Footer Placeholder 4">
            <a:extLst>
              <a:ext uri="{FF2B5EF4-FFF2-40B4-BE49-F238E27FC236}">
                <a16:creationId xmlns:a16="http://schemas.microsoft.com/office/drawing/2014/main" id="{6728D3BB-8714-0474-1F54-81A5282147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891FC-A309-D76F-7717-0AA9DFD2CC61}"/>
              </a:ext>
            </a:extLst>
          </p:cNvPr>
          <p:cNvSpPr>
            <a:spLocks noGrp="1"/>
          </p:cNvSpPr>
          <p:nvPr>
            <p:ph type="sldNum" sz="quarter" idx="12"/>
          </p:nvPr>
        </p:nvSpPr>
        <p:spPr/>
        <p:txBody>
          <a:bodyPr/>
          <a:lstStyle/>
          <a:p>
            <a:fld id="{035BEB2B-BFC8-2844-8B7D-A9CFACA9D159}" type="slidenum">
              <a:rPr lang="en-US" smtClean="0"/>
              <a:t>‹#›</a:t>
            </a:fld>
            <a:endParaRPr lang="en-US"/>
          </a:p>
        </p:txBody>
      </p:sp>
    </p:spTree>
    <p:extLst>
      <p:ext uri="{BB962C8B-B14F-4D97-AF65-F5344CB8AC3E}">
        <p14:creationId xmlns:p14="http://schemas.microsoft.com/office/powerpoint/2010/main" val="560941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79CC02-4D30-924B-5DD2-B8707D206B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52AD29-CF1D-AB52-F7E2-61FBD52CB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5E5A73-2B00-5675-7FFB-B65A53FD52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9DEA6F-722D-3640-B6D4-3862F9E02A8D}" type="datetimeFigureOut">
              <a:rPr lang="en-US" smtClean="0"/>
              <a:t>11/24/25</a:t>
            </a:fld>
            <a:endParaRPr lang="en-US"/>
          </a:p>
        </p:txBody>
      </p:sp>
      <p:sp>
        <p:nvSpPr>
          <p:cNvPr id="5" name="Footer Placeholder 4">
            <a:extLst>
              <a:ext uri="{FF2B5EF4-FFF2-40B4-BE49-F238E27FC236}">
                <a16:creationId xmlns:a16="http://schemas.microsoft.com/office/drawing/2014/main" id="{BA5E715D-865A-CDFE-BD0A-4ADFBAB09D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0797A74-D750-C180-25E4-144B2796EE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5BEB2B-BFC8-2844-8B7D-A9CFACA9D159}" type="slidenum">
              <a:rPr lang="en-US" smtClean="0"/>
              <a:t>‹#›</a:t>
            </a:fld>
            <a:endParaRPr lang="en-US"/>
          </a:p>
        </p:txBody>
      </p:sp>
    </p:spTree>
    <p:extLst>
      <p:ext uri="{BB962C8B-B14F-4D97-AF65-F5344CB8AC3E}">
        <p14:creationId xmlns:p14="http://schemas.microsoft.com/office/powerpoint/2010/main" val="125996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cholar.smu.edu/datasciencere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Compass">
            <a:extLst>
              <a:ext uri="{FF2B5EF4-FFF2-40B4-BE49-F238E27FC236}">
                <a16:creationId xmlns:a16="http://schemas.microsoft.com/office/drawing/2014/main" id="{B724D8A0-F777-64BF-A11D-669C9FC57E5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C92970-52FA-29DE-6EA7-7D8FD8510DC3}"/>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rPr>
              <a:t>Capstone Orientation</a:t>
            </a:r>
          </a:p>
        </p:txBody>
      </p:sp>
      <p:sp>
        <p:nvSpPr>
          <p:cNvPr id="3" name="Subtitle 2">
            <a:extLst>
              <a:ext uri="{FF2B5EF4-FFF2-40B4-BE49-F238E27FC236}">
                <a16:creationId xmlns:a16="http://schemas.microsoft.com/office/drawing/2014/main" id="{2D7DB8EC-369E-CFE6-384C-612BB312A3AE}"/>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a:solidFill>
                  <a:srgbClr val="FFFFFF"/>
                </a:solidFill>
              </a:rPr>
              <a:t>DS 6210</a:t>
            </a:r>
          </a:p>
        </p:txBody>
      </p:sp>
    </p:spTree>
    <p:extLst>
      <p:ext uri="{BB962C8B-B14F-4D97-AF65-F5344CB8AC3E}">
        <p14:creationId xmlns:p14="http://schemas.microsoft.com/office/powerpoint/2010/main" val="277559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553B71-0BD1-406F-65C7-86856756B09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340C7E-6159-E608-4D06-C8F0D6498236}"/>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DS 6210</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19CF0AE-7BE5-21C8-69CE-7676F37BBC8B}"/>
              </a:ext>
            </a:extLst>
          </p:cNvPr>
          <p:cNvSpPr>
            <a:spLocks noGrp="1"/>
          </p:cNvSpPr>
          <p:nvPr>
            <p:ph idx="1"/>
          </p:nvPr>
        </p:nvSpPr>
        <p:spPr>
          <a:xfrm>
            <a:off x="1155548" y="2217343"/>
            <a:ext cx="9880893" cy="3959619"/>
          </a:xfrm>
        </p:spPr>
        <p:txBody>
          <a:bodyPr>
            <a:normAutofit/>
          </a:bodyPr>
          <a:lstStyle/>
          <a:p>
            <a:pPr marL="0" indent="0">
              <a:buNone/>
            </a:pPr>
            <a:r>
              <a:rPr lang="en-US" sz="2400" dirty="0"/>
              <a:t>The </a:t>
            </a:r>
            <a:r>
              <a:rPr lang="en-US" sz="2400" b="1" dirty="0"/>
              <a:t>Capstone project</a:t>
            </a:r>
            <a:r>
              <a:rPr lang="en-US" sz="2400" dirty="0"/>
              <a:t> is the culminating experience of the Data Science program, where students apply what they've learned to solve a real-world problem using data. </a:t>
            </a:r>
          </a:p>
          <a:p>
            <a:pPr marL="0" indent="0">
              <a:buNone/>
            </a:pPr>
            <a:r>
              <a:rPr lang="en-US" sz="2400" dirty="0"/>
              <a:t>The goal is to demonstrate mastery of the </a:t>
            </a:r>
            <a:r>
              <a:rPr lang="en-US" sz="2400" b="1" dirty="0"/>
              <a:t>full data science lifecycle</a:t>
            </a:r>
            <a:r>
              <a:rPr lang="en-US" sz="2400" dirty="0"/>
              <a:t>—from problem scoping and data acquisition to modeling, interpretation, and communication. </a:t>
            </a:r>
          </a:p>
          <a:p>
            <a:pPr marL="0" indent="0">
              <a:buNone/>
            </a:pPr>
            <a:r>
              <a:rPr lang="en-US" sz="2400" dirty="0"/>
              <a:t>It serves as both a </a:t>
            </a:r>
            <a:r>
              <a:rPr lang="en-US" sz="2400" b="1" dirty="0"/>
              <a:t>portfolio piece </a:t>
            </a:r>
            <a:r>
              <a:rPr lang="en-US" sz="2400" dirty="0"/>
              <a:t>and a </a:t>
            </a:r>
            <a:r>
              <a:rPr lang="en-US" sz="2400" b="1" dirty="0"/>
              <a:t>professional bridge</a:t>
            </a:r>
            <a:r>
              <a:rPr lang="en-US" sz="2400" dirty="0"/>
              <a:t>, preparing students for industry or research roles by working independently or with a partner on a meaningful, applied project.</a:t>
            </a:r>
          </a:p>
        </p:txBody>
      </p:sp>
    </p:spTree>
    <p:extLst>
      <p:ext uri="{BB962C8B-B14F-4D97-AF65-F5344CB8AC3E}">
        <p14:creationId xmlns:p14="http://schemas.microsoft.com/office/powerpoint/2010/main" val="109302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69FBA-2DD0-CB3E-B4BB-7E782E552592}"/>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DS 6210: Details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CCBD5F9-4302-8ED9-8F12-A7592A4E86A1}"/>
              </a:ext>
            </a:extLst>
          </p:cNvPr>
          <p:cNvSpPr>
            <a:spLocks noGrp="1"/>
          </p:cNvSpPr>
          <p:nvPr>
            <p:ph idx="1"/>
          </p:nvPr>
        </p:nvSpPr>
        <p:spPr>
          <a:xfrm>
            <a:off x="1155548" y="2217343"/>
            <a:ext cx="9880893" cy="3959619"/>
          </a:xfrm>
        </p:spPr>
        <p:txBody>
          <a:bodyPr>
            <a:normAutofit/>
          </a:bodyPr>
          <a:lstStyle/>
          <a:p>
            <a:r>
              <a:rPr lang="en-US" sz="2400" dirty="0"/>
              <a:t>1 Semester Course</a:t>
            </a:r>
          </a:p>
          <a:p>
            <a:r>
              <a:rPr lang="en-US" sz="2400" dirty="0"/>
              <a:t>Presentation: Unit 11 or 12, March 20, Friday! Yeah! All day!</a:t>
            </a:r>
          </a:p>
          <a:p>
            <a:r>
              <a:rPr lang="en-US" sz="2400" dirty="0"/>
              <a:t>By Unit 15: Submission to SMU </a:t>
            </a:r>
            <a:r>
              <a:rPr lang="en-US" sz="2400" dirty="0">
                <a:hlinkClick r:id="rId2"/>
              </a:rPr>
              <a:t>Data Science Review</a:t>
            </a:r>
            <a:endParaRPr lang="en-US" sz="2400" dirty="0"/>
          </a:p>
        </p:txBody>
      </p:sp>
    </p:spTree>
    <p:extLst>
      <p:ext uri="{BB962C8B-B14F-4D97-AF65-F5344CB8AC3E}">
        <p14:creationId xmlns:p14="http://schemas.microsoft.com/office/powerpoint/2010/main" val="367904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EC85DA-A994-FCE7-9344-00A43723A30F}"/>
              </a:ext>
            </a:extLst>
          </p:cNvPr>
          <p:cNvSpPr>
            <a:spLocks noGrp="1"/>
          </p:cNvSpPr>
          <p:nvPr>
            <p:ph type="title"/>
          </p:nvPr>
        </p:nvSpPr>
        <p:spPr>
          <a:xfrm>
            <a:off x="1156851" y="637762"/>
            <a:ext cx="9888496" cy="900131"/>
          </a:xfrm>
        </p:spPr>
        <p:txBody>
          <a:bodyPr anchor="t">
            <a:normAutofit/>
          </a:bodyPr>
          <a:lstStyle/>
          <a:p>
            <a:r>
              <a:rPr lang="en-US" sz="4000" dirty="0">
                <a:solidFill>
                  <a:schemeClr val="bg1"/>
                </a:solidFill>
              </a:rPr>
              <a:t>Deliverables / Due Monday, January 12</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1E5280-CFCB-5945-6AE3-405B1F1A3648}"/>
              </a:ext>
            </a:extLst>
          </p:cNvPr>
          <p:cNvSpPr>
            <a:spLocks noGrp="1"/>
          </p:cNvSpPr>
          <p:nvPr>
            <p:ph idx="1"/>
          </p:nvPr>
        </p:nvSpPr>
        <p:spPr>
          <a:xfrm>
            <a:off x="1155548" y="2217343"/>
            <a:ext cx="10648525" cy="3959619"/>
          </a:xfrm>
        </p:spPr>
        <p:txBody>
          <a:bodyPr>
            <a:normAutofit/>
          </a:bodyPr>
          <a:lstStyle/>
          <a:p>
            <a:r>
              <a:rPr lang="en-US" sz="2400" dirty="0"/>
              <a:t>PowerPoint Deck or Word Doc with at least one slide for each of the following:</a:t>
            </a:r>
          </a:p>
          <a:p>
            <a:pPr lvl="1"/>
            <a:r>
              <a:rPr lang="en-US" dirty="0"/>
              <a:t>Problem Statement</a:t>
            </a:r>
          </a:p>
          <a:p>
            <a:pPr lvl="1"/>
            <a:r>
              <a:rPr lang="en-US" dirty="0"/>
              <a:t>Data</a:t>
            </a:r>
          </a:p>
          <a:p>
            <a:pPr lvl="1"/>
            <a:r>
              <a:rPr lang="en-US" dirty="0"/>
              <a:t>Advisor</a:t>
            </a:r>
          </a:p>
          <a:p>
            <a:pPr lvl="1"/>
            <a:r>
              <a:rPr lang="en-US" dirty="0"/>
              <a:t>Solo or Partner?</a:t>
            </a:r>
          </a:p>
          <a:p>
            <a:pPr lvl="1"/>
            <a:r>
              <a:rPr lang="en-US" dirty="0"/>
              <a:t>Literature Review</a:t>
            </a:r>
          </a:p>
        </p:txBody>
      </p:sp>
    </p:spTree>
    <p:extLst>
      <p:ext uri="{BB962C8B-B14F-4D97-AF65-F5344CB8AC3E}">
        <p14:creationId xmlns:p14="http://schemas.microsoft.com/office/powerpoint/2010/main" val="151988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E89D7B-380C-89CA-D9C6-4A7542D5052B}"/>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Problem Statement</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D5FB078-EE30-E372-1031-303BD2387D41}"/>
              </a:ext>
            </a:extLst>
          </p:cNvPr>
          <p:cNvSpPr>
            <a:spLocks noGrp="1"/>
          </p:cNvSpPr>
          <p:nvPr>
            <p:ph idx="1"/>
          </p:nvPr>
        </p:nvSpPr>
        <p:spPr>
          <a:xfrm>
            <a:off x="1155548" y="2217343"/>
            <a:ext cx="10482270" cy="3959619"/>
          </a:xfrm>
        </p:spPr>
        <p:txBody>
          <a:bodyPr>
            <a:normAutofit/>
          </a:bodyPr>
          <a:lstStyle/>
          <a:p>
            <a:r>
              <a:rPr lang="en-US" sz="2400" b="1" dirty="0"/>
              <a:t>Clear Objective</a:t>
            </a:r>
            <a:r>
              <a:rPr lang="en-US" sz="2400" dirty="0"/>
              <a:t>: Defines exactly what the model or analysis is meant to do (e.g., classify, predict, segment, etc.).</a:t>
            </a:r>
          </a:p>
          <a:p>
            <a:r>
              <a:rPr lang="en-US" sz="2400" b="1" dirty="0"/>
              <a:t>Specific Data</a:t>
            </a:r>
            <a:r>
              <a:rPr lang="en-US" sz="2400" dirty="0"/>
              <a:t>: Identifies the exact dataset(s) that will be used, including type or source.</a:t>
            </a:r>
          </a:p>
          <a:p>
            <a:r>
              <a:rPr lang="en-US" sz="2400" b="1" dirty="0"/>
              <a:t>Stakeholder</a:t>
            </a:r>
            <a:r>
              <a:rPr lang="en-US" sz="2400" dirty="0"/>
              <a:t>: Names who will use the output or benefit from the results.</a:t>
            </a:r>
          </a:p>
          <a:p>
            <a:r>
              <a:rPr lang="en-US" sz="2400" b="1" dirty="0"/>
              <a:t>Actionable</a:t>
            </a:r>
            <a:r>
              <a:rPr lang="en-US" sz="2400" dirty="0"/>
              <a:t>: Describes how the results will influence a decision or action.</a:t>
            </a:r>
          </a:p>
          <a:p>
            <a:r>
              <a:rPr lang="en-US" sz="2400" b="1" dirty="0"/>
              <a:t>Measurable</a:t>
            </a:r>
            <a:r>
              <a:rPr lang="en-US" sz="2400" dirty="0"/>
              <a:t>: Establishes measurable outcomes or performance metrics for success.</a:t>
            </a:r>
          </a:p>
          <a:p>
            <a:endParaRPr lang="en-US" sz="2400" dirty="0"/>
          </a:p>
        </p:txBody>
      </p:sp>
    </p:spTree>
    <p:extLst>
      <p:ext uri="{BB962C8B-B14F-4D97-AF65-F5344CB8AC3E}">
        <p14:creationId xmlns:p14="http://schemas.microsoft.com/office/powerpoint/2010/main" val="67642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5A67C8-195F-7ACE-8405-3C2B285D66BD}"/>
              </a:ext>
            </a:extLst>
          </p:cNvPr>
          <p:cNvSpPr>
            <a:spLocks noGrp="1"/>
          </p:cNvSpPr>
          <p:nvPr>
            <p:ph type="title"/>
          </p:nvPr>
        </p:nvSpPr>
        <p:spPr>
          <a:xfrm>
            <a:off x="1156851" y="637762"/>
            <a:ext cx="9888496" cy="900131"/>
          </a:xfrm>
        </p:spPr>
        <p:txBody>
          <a:bodyPr vert="horz" lIns="91440" tIns="45720" rIns="91440" bIns="45720" rtlCol="0" anchor="t">
            <a:normAutofit/>
          </a:bodyPr>
          <a:lstStyle/>
          <a:p>
            <a:r>
              <a:rPr lang="en-US" sz="4000" kern="1200">
                <a:solidFill>
                  <a:schemeClr val="bg1"/>
                </a:solidFill>
                <a:latin typeface="+mj-lt"/>
                <a:ea typeface="+mj-ea"/>
                <a:cs typeface="+mj-cs"/>
              </a:rPr>
              <a:t>Problem Statement</a:t>
            </a: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7515AF5-C87B-988D-0CE0-8129D012371C}"/>
              </a:ext>
            </a:extLst>
          </p:cNvPr>
          <p:cNvSpPr txBox="1"/>
          <p:nvPr/>
        </p:nvSpPr>
        <p:spPr>
          <a:xfrm>
            <a:off x="391887" y="2207225"/>
            <a:ext cx="11081656" cy="4477371"/>
          </a:xfrm>
          <a:prstGeom prst="rect">
            <a:avLst/>
          </a:prstGeom>
        </p:spPr>
        <p:txBody>
          <a:bodyPr vert="horz" lIns="91440" tIns="45720" rIns="91440" bIns="45720" rtlCol="0">
            <a:noAutofit/>
          </a:bodyPr>
          <a:lstStyle/>
          <a:p>
            <a:pPr>
              <a:lnSpc>
                <a:spcPct val="90000"/>
              </a:lnSpc>
              <a:spcAft>
                <a:spcPts val="600"/>
              </a:spcAft>
            </a:pPr>
            <a:r>
              <a:rPr lang="en-US" sz="1600" b="1" dirty="0"/>
              <a:t>Bad Problem Statement Example</a:t>
            </a:r>
          </a:p>
          <a:p>
            <a:pPr indent="-228600">
              <a:lnSpc>
                <a:spcPct val="90000"/>
              </a:lnSpc>
              <a:spcAft>
                <a:spcPts val="600"/>
              </a:spcAft>
              <a:buFont typeface="Arial" panose="020B0604020202020204" pitchFamily="34" charset="0"/>
              <a:buChar char="•"/>
            </a:pPr>
            <a:r>
              <a:rPr lang="en-US" sz="1400" dirty="0"/>
              <a:t>	“Use machine learning to improve the company's sales.”</a:t>
            </a:r>
          </a:p>
          <a:p>
            <a:pPr marL="1657350" lvl="3" indent="-228600">
              <a:lnSpc>
                <a:spcPct val="90000"/>
              </a:lnSpc>
              <a:spcAft>
                <a:spcPts val="600"/>
              </a:spcAft>
              <a:buFont typeface="Arial" panose="020B0604020202020204" pitchFamily="34" charset="0"/>
              <a:buChar char="•"/>
            </a:pPr>
            <a:r>
              <a:rPr lang="en-US" sz="1400" dirty="0"/>
              <a:t>Too broad and vague – What does "improve" mean? By how much?</a:t>
            </a:r>
          </a:p>
          <a:p>
            <a:pPr marL="1657350" lvl="3" indent="-228600">
              <a:lnSpc>
                <a:spcPct val="90000"/>
              </a:lnSpc>
              <a:spcAft>
                <a:spcPts val="600"/>
              </a:spcAft>
              <a:buFont typeface="Arial" panose="020B0604020202020204" pitchFamily="34" charset="0"/>
              <a:buChar char="•"/>
            </a:pPr>
            <a:r>
              <a:rPr lang="en-US" sz="1400" dirty="0"/>
              <a:t>No specific data – What data is available?</a:t>
            </a:r>
          </a:p>
          <a:p>
            <a:pPr marL="1657350" lvl="3" indent="-228600">
              <a:lnSpc>
                <a:spcPct val="90000"/>
              </a:lnSpc>
              <a:spcAft>
                <a:spcPts val="600"/>
              </a:spcAft>
              <a:buFont typeface="Arial" panose="020B0604020202020204" pitchFamily="34" charset="0"/>
              <a:buChar char="•"/>
            </a:pPr>
            <a:r>
              <a:rPr lang="en-US" sz="1400" dirty="0"/>
              <a:t>No clear user or stakeholder – Who is the solution for?</a:t>
            </a:r>
          </a:p>
          <a:p>
            <a:pPr marL="1657350" lvl="3" indent="-228600">
              <a:lnSpc>
                <a:spcPct val="90000"/>
              </a:lnSpc>
              <a:spcAft>
                <a:spcPts val="600"/>
              </a:spcAft>
              <a:buFont typeface="Arial" panose="020B0604020202020204" pitchFamily="34" charset="0"/>
              <a:buChar char="•"/>
            </a:pPr>
            <a:r>
              <a:rPr lang="en-US" sz="1400" dirty="0"/>
              <a:t>Could lead to wasted effort chasing unclear goals.</a:t>
            </a:r>
          </a:p>
          <a:p>
            <a:pPr lvl="1" indent="-228600">
              <a:lnSpc>
                <a:spcPct val="90000"/>
              </a:lnSpc>
              <a:spcAft>
                <a:spcPts val="600"/>
              </a:spcAft>
              <a:buFont typeface="Arial" panose="020B0604020202020204" pitchFamily="34" charset="0"/>
              <a:buChar char="•"/>
            </a:pPr>
            <a:endParaRPr lang="en-US" sz="1400" dirty="0"/>
          </a:p>
          <a:p>
            <a:pPr>
              <a:lnSpc>
                <a:spcPct val="90000"/>
              </a:lnSpc>
              <a:spcAft>
                <a:spcPts val="600"/>
              </a:spcAft>
            </a:pPr>
            <a:r>
              <a:rPr lang="en-US" sz="1600" b="1" dirty="0"/>
              <a:t>Good Problem Statement Example</a:t>
            </a:r>
          </a:p>
          <a:p>
            <a:pPr indent="-228600">
              <a:lnSpc>
                <a:spcPct val="90000"/>
              </a:lnSpc>
              <a:spcAft>
                <a:spcPts val="600"/>
              </a:spcAft>
              <a:buFont typeface="Arial" panose="020B0604020202020204" pitchFamily="34" charset="0"/>
              <a:buChar char="•"/>
            </a:pPr>
            <a:r>
              <a:rPr lang="en-US" sz="1400" dirty="0"/>
              <a:t>	“Use historical transaction and customer engagement data to build a regression model that predicts </a:t>
            </a:r>
          </a:p>
          <a:p>
            <a:pPr>
              <a:lnSpc>
                <a:spcPct val="90000"/>
              </a:lnSpc>
              <a:spcAft>
                <a:spcPts val="600"/>
              </a:spcAft>
            </a:pPr>
            <a:r>
              <a:rPr lang="en-US" sz="1400" dirty="0"/>
              <a:t>	monthly sales for each retail location, enabling regional managers to optimize staffing and inventory.”</a:t>
            </a:r>
          </a:p>
          <a:p>
            <a:pPr marL="1657350" lvl="3" indent="-228600">
              <a:lnSpc>
                <a:spcPct val="90000"/>
              </a:lnSpc>
              <a:spcAft>
                <a:spcPts val="600"/>
              </a:spcAft>
              <a:buFont typeface="Arial" panose="020B0604020202020204" pitchFamily="34" charset="0"/>
              <a:buChar char="•"/>
            </a:pPr>
            <a:r>
              <a:rPr lang="en-US" sz="1400" b="1" dirty="0"/>
              <a:t>Clear objective</a:t>
            </a:r>
            <a:r>
              <a:rPr lang="en-US" sz="1400" dirty="0"/>
              <a:t> – Predict monthly sales using regression.</a:t>
            </a:r>
            <a:endParaRPr lang="en-US" sz="1400" b="1" dirty="0"/>
          </a:p>
          <a:p>
            <a:pPr marL="1657350" lvl="3" indent="-228600">
              <a:lnSpc>
                <a:spcPct val="90000"/>
              </a:lnSpc>
              <a:spcAft>
                <a:spcPts val="600"/>
              </a:spcAft>
              <a:buFont typeface="Arial" panose="020B0604020202020204" pitchFamily="34" charset="0"/>
              <a:buChar char="•"/>
            </a:pPr>
            <a:r>
              <a:rPr lang="en-US" sz="1400" b="1" dirty="0"/>
              <a:t>Specific data</a:t>
            </a:r>
            <a:r>
              <a:rPr lang="en-US" sz="1400" dirty="0"/>
              <a:t> – Transaction and engagement data (can be more specific siting the source as well.)</a:t>
            </a:r>
          </a:p>
          <a:p>
            <a:pPr marL="1657350" lvl="3" indent="-228600">
              <a:lnSpc>
                <a:spcPct val="90000"/>
              </a:lnSpc>
              <a:spcAft>
                <a:spcPts val="600"/>
              </a:spcAft>
              <a:buFont typeface="Arial" panose="020B0604020202020204" pitchFamily="34" charset="0"/>
              <a:buChar char="•"/>
            </a:pPr>
            <a:r>
              <a:rPr lang="en-US" sz="1400" b="1" dirty="0"/>
              <a:t>Stakeholder </a:t>
            </a:r>
            <a:r>
              <a:rPr lang="en-US" sz="1400" dirty="0"/>
              <a:t> – Regional managers.</a:t>
            </a:r>
          </a:p>
          <a:p>
            <a:pPr marL="1657350" lvl="3" indent="-228600">
              <a:lnSpc>
                <a:spcPct val="90000"/>
              </a:lnSpc>
              <a:spcAft>
                <a:spcPts val="600"/>
              </a:spcAft>
              <a:buFont typeface="Arial" panose="020B0604020202020204" pitchFamily="34" charset="0"/>
              <a:buChar char="•"/>
            </a:pPr>
            <a:r>
              <a:rPr lang="en-US" sz="1400" b="1" dirty="0"/>
              <a:t>Actionable </a:t>
            </a:r>
            <a:r>
              <a:rPr lang="en-US" sz="1400" dirty="0"/>
              <a:t> – Helps optimize staffing and inventory.</a:t>
            </a:r>
          </a:p>
          <a:p>
            <a:pPr marL="1657350" lvl="3" indent="-228600">
              <a:lnSpc>
                <a:spcPct val="90000"/>
              </a:lnSpc>
              <a:spcAft>
                <a:spcPts val="600"/>
              </a:spcAft>
              <a:buFont typeface="Arial" panose="020B0604020202020204" pitchFamily="34" charset="0"/>
              <a:buChar char="•"/>
            </a:pPr>
            <a:r>
              <a:rPr lang="en-US" sz="1400" b="1" dirty="0"/>
              <a:t>Measurable</a:t>
            </a:r>
            <a:r>
              <a:rPr lang="en-US" sz="1400" dirty="0"/>
              <a:t> – Monthly sales is a measurable numeric target.</a:t>
            </a:r>
          </a:p>
        </p:txBody>
      </p:sp>
    </p:spTree>
    <p:extLst>
      <p:ext uri="{BB962C8B-B14F-4D97-AF65-F5344CB8AC3E}">
        <p14:creationId xmlns:p14="http://schemas.microsoft.com/office/powerpoint/2010/main" val="334545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500"/>
                                        <p:tgtEl>
                                          <p:spTgt spid="5">
                                            <p:txEl>
                                              <p:pRg st="8" end="8"/>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5">
                                            <p:txEl>
                                              <p:pRg st="9" end="9"/>
                                            </p:txEl>
                                          </p:spTgt>
                                        </p:tgtEl>
                                        <p:attrNameLst>
                                          <p:attrName>style.visibility</p:attrName>
                                        </p:attrNameLst>
                                      </p:cBhvr>
                                      <p:to>
                                        <p:strVal val="visible"/>
                                      </p:to>
                                    </p:set>
                                    <p:animEffect transition="in" filter="fade">
                                      <p:cBhvr>
                                        <p:cTn id="45" dur="500"/>
                                        <p:tgtEl>
                                          <p:spTgt spid="5">
                                            <p:txEl>
                                              <p:pRg st="9" end="9"/>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5">
                                            <p:txEl>
                                              <p:pRg st="10" end="10"/>
                                            </p:txEl>
                                          </p:spTgt>
                                        </p:tgtEl>
                                        <p:attrNameLst>
                                          <p:attrName>style.visibility</p:attrName>
                                        </p:attrNameLst>
                                      </p:cBhvr>
                                      <p:to>
                                        <p:strVal val="visible"/>
                                      </p:to>
                                    </p:set>
                                    <p:animEffect transition="in" filter="fade">
                                      <p:cBhvr>
                                        <p:cTn id="48" dur="500"/>
                                        <p:tgtEl>
                                          <p:spTgt spid="5">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xEl>
                                              <p:pRg st="11" end="11"/>
                                            </p:txEl>
                                          </p:spTgt>
                                        </p:tgtEl>
                                        <p:attrNameLst>
                                          <p:attrName>style.visibility</p:attrName>
                                        </p:attrNameLst>
                                      </p:cBhvr>
                                      <p:to>
                                        <p:strVal val="visible"/>
                                      </p:to>
                                    </p:set>
                                    <p:animEffect transition="in" filter="fade">
                                      <p:cBhvr>
                                        <p:cTn id="53" dur="500"/>
                                        <p:tgtEl>
                                          <p:spTgt spid="5">
                                            <p:txEl>
                                              <p:pRg st="11" end="1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5">
                                            <p:txEl>
                                              <p:pRg st="12" end="12"/>
                                            </p:txEl>
                                          </p:spTgt>
                                        </p:tgtEl>
                                        <p:attrNameLst>
                                          <p:attrName>style.visibility</p:attrName>
                                        </p:attrNameLst>
                                      </p:cBhvr>
                                      <p:to>
                                        <p:strVal val="visible"/>
                                      </p:to>
                                    </p:set>
                                    <p:animEffect transition="in" filter="fade">
                                      <p:cBhvr>
                                        <p:cTn id="58" dur="500"/>
                                        <p:tgtEl>
                                          <p:spTgt spid="5">
                                            <p:txEl>
                                              <p:pRg st="12" end="1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
                                            <p:txEl>
                                              <p:pRg st="13" end="13"/>
                                            </p:txEl>
                                          </p:spTgt>
                                        </p:tgtEl>
                                        <p:attrNameLst>
                                          <p:attrName>style.visibility</p:attrName>
                                        </p:attrNameLst>
                                      </p:cBhvr>
                                      <p:to>
                                        <p:strVal val="visible"/>
                                      </p:to>
                                    </p:set>
                                    <p:animEffect transition="in" filter="fade">
                                      <p:cBhvr>
                                        <p:cTn id="63" dur="500"/>
                                        <p:tgtEl>
                                          <p:spTgt spid="5">
                                            <p:txEl>
                                              <p:pRg st="13" end="1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5">
                                            <p:txEl>
                                              <p:pRg st="14" end="14"/>
                                            </p:txEl>
                                          </p:spTgt>
                                        </p:tgtEl>
                                        <p:attrNameLst>
                                          <p:attrName>style.visibility</p:attrName>
                                        </p:attrNameLst>
                                      </p:cBhvr>
                                      <p:to>
                                        <p:strVal val="visible"/>
                                      </p:to>
                                    </p:set>
                                    <p:animEffect transition="in" filter="fade">
                                      <p:cBhvr>
                                        <p:cTn id="68"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D968FD-DC1D-3806-5402-EEBFE7080B66}"/>
              </a:ext>
            </a:extLst>
          </p:cNvPr>
          <p:cNvSpPr>
            <a:spLocks noGrp="1"/>
          </p:cNvSpPr>
          <p:nvPr>
            <p:ph type="title"/>
          </p:nvPr>
        </p:nvSpPr>
        <p:spPr>
          <a:xfrm>
            <a:off x="1156851" y="637762"/>
            <a:ext cx="9888496" cy="900131"/>
          </a:xfrm>
        </p:spPr>
        <p:txBody>
          <a:bodyPr vert="horz" lIns="91440" tIns="45720" rIns="91440" bIns="45720" rtlCol="0" anchor="t">
            <a:normAutofit/>
          </a:bodyPr>
          <a:lstStyle/>
          <a:p>
            <a:r>
              <a:rPr lang="en-US" sz="4000" kern="1200">
                <a:solidFill>
                  <a:schemeClr val="bg1"/>
                </a:solidFill>
                <a:latin typeface="+mj-lt"/>
                <a:ea typeface="+mj-ea"/>
                <a:cs typeface="+mj-cs"/>
              </a:rPr>
              <a:t>Problem Statement</a:t>
            </a: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6D5DB8C-C4DA-7B0D-9C33-8C34996FC73F}"/>
              </a:ext>
            </a:extLst>
          </p:cNvPr>
          <p:cNvSpPr txBox="1"/>
          <p:nvPr/>
        </p:nvSpPr>
        <p:spPr>
          <a:xfrm>
            <a:off x="163287" y="2207225"/>
            <a:ext cx="11680370" cy="4594938"/>
          </a:xfrm>
          <a:prstGeom prst="rect">
            <a:avLst/>
          </a:prstGeom>
        </p:spPr>
        <p:txBody>
          <a:bodyPr vert="horz" lIns="91440" tIns="45720" rIns="91440" bIns="45720" rtlCol="0">
            <a:noAutofit/>
          </a:bodyPr>
          <a:lstStyle/>
          <a:p>
            <a:pPr>
              <a:lnSpc>
                <a:spcPct val="90000"/>
              </a:lnSpc>
              <a:spcAft>
                <a:spcPts val="600"/>
              </a:spcAft>
            </a:pPr>
            <a:r>
              <a:rPr lang="en-US" sz="1600" b="1" dirty="0"/>
              <a:t>Bad Problem Statement Example</a:t>
            </a:r>
          </a:p>
          <a:p>
            <a:pPr indent="-228600">
              <a:lnSpc>
                <a:spcPct val="90000"/>
              </a:lnSpc>
              <a:spcAft>
                <a:spcPts val="600"/>
              </a:spcAft>
              <a:buFont typeface="Arial" panose="020B0604020202020204" pitchFamily="34" charset="0"/>
              <a:buChar char="•"/>
            </a:pPr>
            <a:r>
              <a:rPr lang="en-US" sz="1400" dirty="0"/>
              <a:t>	“Analyze this dataset about student performance.”</a:t>
            </a:r>
          </a:p>
          <a:p>
            <a:pPr indent="-228600">
              <a:lnSpc>
                <a:spcPct val="90000"/>
              </a:lnSpc>
              <a:spcAft>
                <a:spcPts val="600"/>
              </a:spcAft>
              <a:buFont typeface="Arial" panose="020B0604020202020204" pitchFamily="34" charset="0"/>
              <a:buChar char="•"/>
            </a:pPr>
            <a:r>
              <a:rPr lang="en-US" sz="1400" b="1" dirty="0"/>
              <a:t>	Why it’s bad:</a:t>
            </a:r>
            <a:endParaRPr lang="en-US" sz="1400" dirty="0"/>
          </a:p>
          <a:p>
            <a:pPr marL="1657350" lvl="3" indent="-228600">
              <a:lnSpc>
                <a:spcPct val="90000"/>
              </a:lnSpc>
              <a:spcAft>
                <a:spcPts val="600"/>
              </a:spcAft>
              <a:buFont typeface="Arial" panose="020B0604020202020204" pitchFamily="34" charset="0"/>
              <a:buChar char="•"/>
            </a:pPr>
            <a:r>
              <a:rPr lang="en-US" sz="1400" b="1" dirty="0"/>
              <a:t>Too vague</a:t>
            </a:r>
            <a:r>
              <a:rPr lang="en-US" sz="1400" dirty="0"/>
              <a:t> – What exactly should be analyzed?</a:t>
            </a:r>
          </a:p>
          <a:p>
            <a:pPr marL="1657350" lvl="3" indent="-228600">
              <a:lnSpc>
                <a:spcPct val="90000"/>
              </a:lnSpc>
              <a:spcAft>
                <a:spcPts val="600"/>
              </a:spcAft>
              <a:buFont typeface="Arial" panose="020B0604020202020204" pitchFamily="34" charset="0"/>
              <a:buChar char="•"/>
            </a:pPr>
            <a:r>
              <a:rPr lang="en-US" sz="1400" b="1" dirty="0"/>
              <a:t>No objective</a:t>
            </a:r>
            <a:r>
              <a:rPr lang="en-US" sz="1400" dirty="0"/>
              <a:t> – No clear goal or outcome.</a:t>
            </a:r>
          </a:p>
          <a:p>
            <a:pPr marL="1657350" lvl="3" indent="-228600">
              <a:lnSpc>
                <a:spcPct val="90000"/>
              </a:lnSpc>
              <a:spcAft>
                <a:spcPts val="600"/>
              </a:spcAft>
              <a:buFont typeface="Arial" panose="020B0604020202020204" pitchFamily="34" charset="0"/>
              <a:buChar char="•"/>
            </a:pPr>
            <a:r>
              <a:rPr lang="en-US" sz="1400" b="1" dirty="0"/>
              <a:t>No stakeholder or actionability</a:t>
            </a:r>
            <a:r>
              <a:rPr lang="en-US" sz="1400" dirty="0"/>
              <a:t> – Who will use the results, and how?</a:t>
            </a:r>
          </a:p>
          <a:p>
            <a:pPr indent="-228600">
              <a:lnSpc>
                <a:spcPct val="90000"/>
              </a:lnSpc>
              <a:spcAft>
                <a:spcPts val="600"/>
              </a:spcAft>
              <a:buFont typeface="Arial" panose="020B0604020202020204" pitchFamily="34" charset="0"/>
              <a:buChar char="•"/>
            </a:pPr>
            <a:endParaRPr lang="en-US" sz="1400" b="1" dirty="0"/>
          </a:p>
          <a:p>
            <a:pPr>
              <a:lnSpc>
                <a:spcPct val="90000"/>
              </a:lnSpc>
              <a:spcAft>
                <a:spcPts val="600"/>
              </a:spcAft>
            </a:pPr>
            <a:r>
              <a:rPr lang="en-US" sz="1600" b="1" dirty="0"/>
              <a:t>Good Problem Statement Example</a:t>
            </a:r>
          </a:p>
          <a:p>
            <a:pPr indent="-228600">
              <a:lnSpc>
                <a:spcPct val="90000"/>
              </a:lnSpc>
              <a:spcAft>
                <a:spcPts val="600"/>
              </a:spcAft>
              <a:buFont typeface="Arial" panose="020B0604020202020204" pitchFamily="34" charset="0"/>
              <a:buChar char="•"/>
            </a:pPr>
            <a:r>
              <a:rPr lang="en-US" sz="1400" dirty="0"/>
              <a:t>	“Develop a predictive model to identify students at risk of failing their first-year math course, using 	</a:t>
            </a:r>
          </a:p>
          <a:p>
            <a:pPr>
              <a:lnSpc>
                <a:spcPct val="90000"/>
              </a:lnSpc>
              <a:spcAft>
                <a:spcPts val="600"/>
              </a:spcAft>
            </a:pPr>
            <a:r>
              <a:rPr lang="en-US" sz="1400" dirty="0"/>
              <a:t>	demographic and academic performance data, to enable early intervention by academic advisors.”</a:t>
            </a:r>
          </a:p>
          <a:p>
            <a:pPr indent="-228600">
              <a:lnSpc>
                <a:spcPct val="90000"/>
              </a:lnSpc>
              <a:spcAft>
                <a:spcPts val="600"/>
              </a:spcAft>
              <a:buFont typeface="Arial" panose="020B0604020202020204" pitchFamily="34" charset="0"/>
              <a:buChar char="•"/>
            </a:pPr>
            <a:r>
              <a:rPr lang="en-US" sz="1400" b="1" dirty="0"/>
              <a:t>	Why it’s good:</a:t>
            </a:r>
            <a:endParaRPr lang="en-US" sz="1400" dirty="0"/>
          </a:p>
          <a:p>
            <a:pPr marL="1657350" lvl="3" indent="-228600">
              <a:lnSpc>
                <a:spcPct val="90000"/>
              </a:lnSpc>
              <a:spcAft>
                <a:spcPts val="600"/>
              </a:spcAft>
              <a:buFont typeface="Arial" panose="020B0604020202020204" pitchFamily="34" charset="0"/>
              <a:buChar char="•"/>
            </a:pPr>
            <a:r>
              <a:rPr lang="en-US" sz="1400" b="1" dirty="0"/>
              <a:t>Clear objective</a:t>
            </a:r>
            <a:r>
              <a:rPr lang="en-US" sz="1400" dirty="0"/>
              <a:t> – Build a predictive model.</a:t>
            </a:r>
          </a:p>
          <a:p>
            <a:pPr marL="1657350" lvl="3" indent="-228600">
              <a:lnSpc>
                <a:spcPct val="90000"/>
              </a:lnSpc>
              <a:spcAft>
                <a:spcPts val="600"/>
              </a:spcAft>
              <a:buFont typeface="Arial" panose="020B0604020202020204" pitchFamily="34" charset="0"/>
              <a:buChar char="•"/>
            </a:pPr>
            <a:r>
              <a:rPr lang="en-US" sz="1400" b="1" dirty="0"/>
              <a:t>Specific Data </a:t>
            </a:r>
            <a:r>
              <a:rPr lang="en-US" sz="1400" dirty="0"/>
              <a:t>- demographic and academic performance data (can be more specific siting the source as well.)</a:t>
            </a:r>
          </a:p>
          <a:p>
            <a:pPr marL="1657350" lvl="3" indent="-228600">
              <a:lnSpc>
                <a:spcPct val="90000"/>
              </a:lnSpc>
              <a:spcAft>
                <a:spcPts val="600"/>
              </a:spcAft>
              <a:buFont typeface="Arial" panose="020B0604020202020204" pitchFamily="34" charset="0"/>
              <a:buChar char="•"/>
            </a:pPr>
            <a:r>
              <a:rPr lang="en-US" sz="1400" b="1" dirty="0"/>
              <a:t>Stakeholder</a:t>
            </a:r>
            <a:r>
              <a:rPr lang="en-US" sz="1400" dirty="0"/>
              <a:t> – Academic advisors will use the results.</a:t>
            </a:r>
          </a:p>
          <a:p>
            <a:pPr marL="1657350" lvl="3" indent="-228600">
              <a:lnSpc>
                <a:spcPct val="90000"/>
              </a:lnSpc>
              <a:spcAft>
                <a:spcPts val="600"/>
              </a:spcAft>
              <a:buFont typeface="Arial" panose="020B0604020202020204" pitchFamily="34" charset="0"/>
              <a:buChar char="•"/>
            </a:pPr>
            <a:r>
              <a:rPr lang="en-US" sz="1400" b="1" dirty="0"/>
              <a:t>Actionable</a:t>
            </a:r>
            <a:r>
              <a:rPr lang="en-US" sz="1400" dirty="0"/>
              <a:t> – Enables early intervention, tied to an organizational goal.</a:t>
            </a:r>
          </a:p>
          <a:p>
            <a:pPr marL="1657350" lvl="3" indent="-228600">
              <a:lnSpc>
                <a:spcPct val="90000"/>
              </a:lnSpc>
              <a:spcAft>
                <a:spcPts val="600"/>
              </a:spcAft>
              <a:buFont typeface="Arial" panose="020B0604020202020204" pitchFamily="34" charset="0"/>
              <a:buChar char="•"/>
            </a:pPr>
            <a:r>
              <a:rPr lang="en-US" sz="1400" b="1" dirty="0"/>
              <a:t>Measurable</a:t>
            </a:r>
            <a:r>
              <a:rPr lang="en-US" sz="1400" dirty="0"/>
              <a:t> – Risk of failure is a binary/classification outcome.</a:t>
            </a:r>
          </a:p>
        </p:txBody>
      </p:sp>
    </p:spTree>
    <p:extLst>
      <p:ext uri="{BB962C8B-B14F-4D97-AF65-F5344CB8AC3E}">
        <p14:creationId xmlns:p14="http://schemas.microsoft.com/office/powerpoint/2010/main" val="264992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fade">
                                      <p:cBhvr>
                                        <p:cTn id="42" dur="500"/>
                                        <p:tgtEl>
                                          <p:spTgt spid="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fade">
                                      <p:cBhvr>
                                        <p:cTn id="47" dur="500"/>
                                        <p:tgtEl>
                                          <p:spTgt spid="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10" end="10"/>
                                            </p:txEl>
                                          </p:spTgt>
                                        </p:tgtEl>
                                        <p:attrNameLst>
                                          <p:attrName>style.visibility</p:attrName>
                                        </p:attrNameLst>
                                      </p:cBhvr>
                                      <p:to>
                                        <p:strVal val="visible"/>
                                      </p:to>
                                    </p:set>
                                    <p:animEffect transition="in" filter="fade">
                                      <p:cBhvr>
                                        <p:cTn id="52" dur="500"/>
                                        <p:tgtEl>
                                          <p:spTgt spid="5">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11" end="11"/>
                                            </p:txEl>
                                          </p:spTgt>
                                        </p:tgtEl>
                                        <p:attrNameLst>
                                          <p:attrName>style.visibility</p:attrName>
                                        </p:attrNameLst>
                                      </p:cBhvr>
                                      <p:to>
                                        <p:strVal val="visible"/>
                                      </p:to>
                                    </p:set>
                                    <p:animEffect transition="in" filter="fade">
                                      <p:cBhvr>
                                        <p:cTn id="57" dur="500"/>
                                        <p:tgtEl>
                                          <p:spTgt spid="5">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12" end="12"/>
                                            </p:txEl>
                                          </p:spTgt>
                                        </p:tgtEl>
                                        <p:attrNameLst>
                                          <p:attrName>style.visibility</p:attrName>
                                        </p:attrNameLst>
                                      </p:cBhvr>
                                      <p:to>
                                        <p:strVal val="visible"/>
                                      </p:to>
                                    </p:set>
                                    <p:animEffect transition="in" filter="fade">
                                      <p:cBhvr>
                                        <p:cTn id="62" dur="500"/>
                                        <p:tgtEl>
                                          <p:spTgt spid="5">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13" end="13"/>
                                            </p:txEl>
                                          </p:spTgt>
                                        </p:tgtEl>
                                        <p:attrNameLst>
                                          <p:attrName>style.visibility</p:attrName>
                                        </p:attrNameLst>
                                      </p:cBhvr>
                                      <p:to>
                                        <p:strVal val="visible"/>
                                      </p:to>
                                    </p:set>
                                    <p:animEffect transition="in" filter="fade">
                                      <p:cBhvr>
                                        <p:cTn id="67" dur="500"/>
                                        <p:tgtEl>
                                          <p:spTgt spid="5">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
                                            <p:txEl>
                                              <p:pRg st="14" end="14"/>
                                            </p:txEl>
                                          </p:spTgt>
                                        </p:tgtEl>
                                        <p:attrNameLst>
                                          <p:attrName>style.visibility</p:attrName>
                                        </p:attrNameLst>
                                      </p:cBhvr>
                                      <p:to>
                                        <p:strVal val="visible"/>
                                      </p:to>
                                    </p:set>
                                    <p:animEffect transition="in" filter="fade">
                                      <p:cBhvr>
                                        <p:cTn id="72" dur="500"/>
                                        <p:tgtEl>
                                          <p:spTgt spid="5">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
                                            <p:txEl>
                                              <p:pRg st="15" end="15"/>
                                            </p:txEl>
                                          </p:spTgt>
                                        </p:tgtEl>
                                        <p:attrNameLst>
                                          <p:attrName>style.visibility</p:attrName>
                                        </p:attrNameLst>
                                      </p:cBhvr>
                                      <p:to>
                                        <p:strVal val="visible"/>
                                      </p:to>
                                    </p:set>
                                    <p:animEffect transition="in" filter="fade">
                                      <p:cBhvr>
                                        <p:cTn id="77" dur="500"/>
                                        <p:tgtEl>
                                          <p:spTgt spid="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0559C-6870-A3DE-05B0-AD47FFF33645}"/>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Data</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64A5F95-AE06-B30A-CFAF-608BCD551657}"/>
              </a:ext>
            </a:extLst>
          </p:cNvPr>
          <p:cNvSpPr>
            <a:spLocks noGrp="1"/>
          </p:cNvSpPr>
          <p:nvPr>
            <p:ph idx="1"/>
          </p:nvPr>
        </p:nvSpPr>
        <p:spPr>
          <a:xfrm>
            <a:off x="1155548" y="2217343"/>
            <a:ext cx="9880893" cy="3959619"/>
          </a:xfrm>
        </p:spPr>
        <p:txBody>
          <a:bodyPr>
            <a:normAutofit/>
          </a:bodyPr>
          <a:lstStyle/>
          <a:p>
            <a:r>
              <a:rPr lang="en-US" sz="2400" dirty="0"/>
              <a:t>Data from Work</a:t>
            </a:r>
          </a:p>
          <a:p>
            <a:r>
              <a:rPr lang="en-US" sz="2400" dirty="0"/>
              <a:t>Data from a Company</a:t>
            </a:r>
          </a:p>
          <a:p>
            <a:r>
              <a:rPr lang="en-US" sz="2400" dirty="0"/>
              <a:t>Data from Public Source</a:t>
            </a:r>
          </a:p>
          <a:p>
            <a:r>
              <a:rPr lang="en-US" sz="2400" dirty="0"/>
              <a:t>Data from Journal Article</a:t>
            </a:r>
          </a:p>
          <a:p>
            <a:r>
              <a:rPr lang="en-US" sz="2400" dirty="0"/>
              <a:t>Simulated Data</a:t>
            </a:r>
          </a:p>
          <a:p>
            <a:endParaRPr lang="en-US" sz="2400" dirty="0"/>
          </a:p>
        </p:txBody>
      </p:sp>
    </p:spTree>
    <p:extLst>
      <p:ext uri="{BB962C8B-B14F-4D97-AF65-F5344CB8AC3E}">
        <p14:creationId xmlns:p14="http://schemas.microsoft.com/office/powerpoint/2010/main" val="3032720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EA3F5E-FAEE-C754-9D99-51DCF95603AE}"/>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Advisor</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20612F-9687-09FC-DB48-C0E336BB2F9A}"/>
              </a:ext>
            </a:extLst>
          </p:cNvPr>
          <p:cNvSpPr>
            <a:spLocks noGrp="1"/>
          </p:cNvSpPr>
          <p:nvPr>
            <p:ph idx="1"/>
          </p:nvPr>
        </p:nvSpPr>
        <p:spPr>
          <a:xfrm>
            <a:off x="1155548" y="2217343"/>
            <a:ext cx="9880893" cy="3959619"/>
          </a:xfrm>
        </p:spPr>
        <p:txBody>
          <a:bodyPr>
            <a:normAutofit/>
          </a:bodyPr>
          <a:lstStyle/>
          <a:p>
            <a:r>
              <a:rPr lang="en-US" sz="2000" dirty="0"/>
              <a:t>The </a:t>
            </a:r>
            <a:r>
              <a:rPr lang="en-US" sz="2000" b="1" dirty="0"/>
              <a:t>Capstone advisor</a:t>
            </a:r>
            <a:r>
              <a:rPr lang="en-US" sz="2000" dirty="0"/>
              <a:t> can serve as a mentor and subject-matter guide, helping students refine their problem statement, navigate technical challenges, and/or ensure the project stays on track. Advisors provide regular feedback (usually weekly or biweekly), suggest relevant tools or methods, and/or help align the project with academic or industry standards. While not responsible for doing the work, they are a key partner in helping students produce rigorous and impactful results.</a:t>
            </a:r>
          </a:p>
          <a:p>
            <a:endParaRPr lang="en-US" sz="2000" dirty="0"/>
          </a:p>
          <a:p>
            <a:r>
              <a:rPr lang="en-US" sz="2000" dirty="0"/>
              <a:t>Possible Sources</a:t>
            </a:r>
          </a:p>
          <a:p>
            <a:pPr lvl="1"/>
            <a:r>
              <a:rPr lang="en-US" sz="2000" dirty="0"/>
              <a:t>Professor from MSDS</a:t>
            </a:r>
          </a:p>
          <a:p>
            <a:pPr lvl="1"/>
            <a:r>
              <a:rPr lang="en-US" sz="2000" dirty="0"/>
              <a:t>Professor from another school (</a:t>
            </a:r>
            <a:r>
              <a:rPr lang="en-US" sz="2000" dirty="0" err="1"/>
              <a:t>ie</a:t>
            </a:r>
            <a:r>
              <a:rPr lang="en-US" sz="2000" dirty="0"/>
              <a:t>. if you are extending journal article.)</a:t>
            </a:r>
          </a:p>
          <a:p>
            <a:pPr lvl="1"/>
            <a:r>
              <a:rPr lang="en-US" sz="2000" dirty="0"/>
              <a:t>Advisor from work</a:t>
            </a:r>
          </a:p>
          <a:p>
            <a:pPr lvl="1"/>
            <a:r>
              <a:rPr lang="en-US" sz="2000" dirty="0"/>
              <a:t>Alumni Member as an Advisor (if extending a previous Capstone paper)</a:t>
            </a:r>
          </a:p>
        </p:txBody>
      </p:sp>
    </p:spTree>
    <p:extLst>
      <p:ext uri="{BB962C8B-B14F-4D97-AF65-F5344CB8AC3E}">
        <p14:creationId xmlns:p14="http://schemas.microsoft.com/office/powerpoint/2010/main" val="178186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E81598-A635-A7C3-88B5-EC795DEC216D}"/>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Individual or Group</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1C46232-6D91-E180-D5C2-A6BCC80B432A}"/>
              </a:ext>
            </a:extLst>
          </p:cNvPr>
          <p:cNvSpPr>
            <a:spLocks noGrp="1"/>
          </p:cNvSpPr>
          <p:nvPr>
            <p:ph idx="1"/>
          </p:nvPr>
        </p:nvSpPr>
        <p:spPr>
          <a:xfrm>
            <a:off x="1155548" y="2217343"/>
            <a:ext cx="9880893" cy="3959619"/>
          </a:xfrm>
        </p:spPr>
        <p:txBody>
          <a:bodyPr>
            <a:normAutofit/>
          </a:bodyPr>
          <a:lstStyle/>
          <a:p>
            <a:r>
              <a:rPr lang="en-US" sz="2400" dirty="0"/>
              <a:t>You may either work in a group of two or work on your own. </a:t>
            </a:r>
          </a:p>
        </p:txBody>
      </p:sp>
    </p:spTree>
    <p:extLst>
      <p:ext uri="{BB962C8B-B14F-4D97-AF65-F5344CB8AC3E}">
        <p14:creationId xmlns:p14="http://schemas.microsoft.com/office/powerpoint/2010/main" val="234720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01AD8D-735C-C2DF-5041-18AFC7358596}"/>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a:solidFill>
                  <a:schemeClr val="tx1"/>
                </a:solidFill>
                <a:latin typeface="+mj-lt"/>
                <a:ea typeface="+mj-ea"/>
                <a:cs typeface="+mj-cs"/>
              </a:rPr>
              <a:t>Literature Review</a:t>
            </a:r>
          </a:p>
        </p:txBody>
      </p:sp>
      <p:sp>
        <p:nvSpPr>
          <p:cNvPr id="3" name="Content Placeholder 2">
            <a:extLst>
              <a:ext uri="{FF2B5EF4-FFF2-40B4-BE49-F238E27FC236}">
                <a16:creationId xmlns:a16="http://schemas.microsoft.com/office/drawing/2014/main" id="{F33787C7-EAEE-87EB-FC9A-95DF9288DAE4}"/>
              </a:ext>
            </a:extLst>
          </p:cNvPr>
          <p:cNvSpPr>
            <a:spLocks noGrp="1"/>
          </p:cNvSpPr>
          <p:nvPr>
            <p:ph idx="1"/>
          </p:nvPr>
        </p:nvSpPr>
        <p:spPr>
          <a:xfrm>
            <a:off x="5976257" y="1589314"/>
            <a:ext cx="5419302" cy="4525866"/>
          </a:xfrm>
        </p:spPr>
        <p:txBody>
          <a:bodyPr vert="horz" lIns="91440" tIns="45720" rIns="91440" bIns="45720" rtlCol="0">
            <a:normAutofit fontScale="92500" lnSpcReduction="20000"/>
          </a:bodyPr>
          <a:lstStyle/>
          <a:p>
            <a:r>
              <a:rPr lang="en-US" sz="2100" b="1" dirty="0"/>
              <a:t>How to find literature related to your problem:</a:t>
            </a:r>
          </a:p>
          <a:p>
            <a:r>
              <a:rPr lang="en-US" sz="1600" dirty="0"/>
              <a:t>Start with the Big Names: Use Google Scholar, </a:t>
            </a:r>
            <a:r>
              <a:rPr lang="en-US" sz="1600" dirty="0" err="1"/>
              <a:t>arXiv</a:t>
            </a:r>
            <a:r>
              <a:rPr lang="en-US" sz="1600" dirty="0"/>
              <a:t>, Semantic Scholar, even ChatGPT / Gemini or domain journals to find 3–5 foundational papers.</a:t>
            </a:r>
          </a:p>
          <a:p>
            <a:r>
              <a:rPr lang="en-US" sz="1600" dirty="0"/>
              <a:t>Check out the Reference / Works Sited section to find new references and to vet the importance of individual papers (you will see some papers come up as constant references in other papers your read. </a:t>
            </a:r>
          </a:p>
          <a:p>
            <a:r>
              <a:rPr lang="en-US" sz="1600" dirty="0"/>
              <a:t>Focus Your Scope: Prioritize papers with similar data types, goals, or methods (e.g., “predictive modeling in healthcare”).</a:t>
            </a:r>
          </a:p>
          <a:p>
            <a:r>
              <a:rPr lang="en-US" sz="1600" dirty="0"/>
              <a:t>Extract Key Insights: For each paper, note:</a:t>
            </a:r>
          </a:p>
          <a:p>
            <a:pPr lvl="1"/>
            <a:r>
              <a:rPr lang="en-US" sz="1600" dirty="0"/>
              <a:t>What was the problem?</a:t>
            </a:r>
          </a:p>
          <a:p>
            <a:pPr lvl="1"/>
            <a:r>
              <a:rPr lang="en-US" sz="1600" dirty="0"/>
              <a:t>What data &amp; methods were used?</a:t>
            </a:r>
          </a:p>
          <a:p>
            <a:pPr lvl="1"/>
            <a:r>
              <a:rPr lang="en-US" sz="1600" dirty="0"/>
              <a:t>What were the key findings or limitations?</a:t>
            </a:r>
          </a:p>
          <a:p>
            <a:pPr lvl="1"/>
            <a:r>
              <a:rPr lang="en-US" sz="1600" dirty="0"/>
              <a:t>What were the key extensions / future work?</a:t>
            </a:r>
          </a:p>
          <a:p>
            <a:pPr marL="457200" lvl="1" indent="0">
              <a:buNone/>
            </a:pPr>
            <a:endParaRPr lang="en-US" sz="1600" dirty="0"/>
          </a:p>
          <a:p>
            <a:r>
              <a:rPr lang="en-US" sz="2000" b="1" dirty="0"/>
              <a:t>How to write it:</a:t>
            </a:r>
          </a:p>
          <a:p>
            <a:pPr lvl="1"/>
            <a:r>
              <a:rPr lang="en-US" sz="1600" i="1" dirty="0"/>
              <a:t>Capstone Course Resources</a:t>
            </a:r>
          </a:p>
          <a:p>
            <a:pPr lvl="1"/>
            <a:r>
              <a:rPr lang="en-US" sz="1600" dirty="0"/>
              <a:t>Read a few literature reviews as examples of how to write one. </a:t>
            </a:r>
          </a:p>
        </p:txBody>
      </p:sp>
      <p:sp>
        <p:nvSpPr>
          <p:cNvPr id="5" name="TextBox 4">
            <a:extLst>
              <a:ext uri="{FF2B5EF4-FFF2-40B4-BE49-F238E27FC236}">
                <a16:creationId xmlns:a16="http://schemas.microsoft.com/office/drawing/2014/main" id="{7179AC8B-80CF-C4BF-280C-6C97DC1FFE70}"/>
              </a:ext>
            </a:extLst>
          </p:cNvPr>
          <p:cNvSpPr txBox="1"/>
          <p:nvPr/>
        </p:nvSpPr>
        <p:spPr>
          <a:xfrm>
            <a:off x="796444" y="1949050"/>
            <a:ext cx="5096933" cy="416613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A literature review summarizes and evaluates existing research relevant to your problem. It helps you understand what’s already been done, what methods are commonly used, and where there are gaps your project can address.</a:t>
            </a:r>
          </a:p>
        </p:txBody>
      </p:sp>
    </p:spTree>
    <p:extLst>
      <p:ext uri="{BB962C8B-B14F-4D97-AF65-F5344CB8AC3E}">
        <p14:creationId xmlns:p14="http://schemas.microsoft.com/office/powerpoint/2010/main" val="301815964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500"/>
                                        <p:tgtEl>
                                          <p:spTgt spid="3">
                                            <p:txEl>
                                              <p:pRg st="10" end="1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Effect transition="in" filter="fade">
                                      <p:cBhvr>
                                        <p:cTn id="55"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DFCB87-7971-440D-4122-0B04C4EA6528}"/>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Generative AI Policy</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133322-4B63-C8E2-6770-F5283FF000EC}"/>
              </a:ext>
            </a:extLst>
          </p:cNvPr>
          <p:cNvSpPr>
            <a:spLocks noGrp="1"/>
          </p:cNvSpPr>
          <p:nvPr>
            <p:ph idx="1"/>
          </p:nvPr>
        </p:nvSpPr>
        <p:spPr>
          <a:xfrm>
            <a:off x="1155548" y="2217343"/>
            <a:ext cx="9880893" cy="3959619"/>
          </a:xfrm>
        </p:spPr>
        <p:txBody>
          <a:bodyPr>
            <a:normAutofit/>
          </a:bodyPr>
          <a:lstStyle/>
          <a:p>
            <a:pPr marL="0" indent="0">
              <a:buNone/>
            </a:pPr>
            <a:r>
              <a:rPr lang="en-US" sz="2400"/>
              <a:t>The purpose of this policy is to ensure responsible, ethical, and transparent use of Generative AI tools (such as ChatGPT, Gemini, Claude, Copilot, etc.) in the Capstone course, where students are expected to produce original, publication-quality research and professional presentations.</a:t>
            </a:r>
          </a:p>
        </p:txBody>
      </p:sp>
    </p:spTree>
    <p:extLst>
      <p:ext uri="{BB962C8B-B14F-4D97-AF65-F5344CB8AC3E}">
        <p14:creationId xmlns:p14="http://schemas.microsoft.com/office/powerpoint/2010/main" val="1151242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4B42C-AF35-65EB-8C13-84A498779F46}"/>
              </a:ext>
            </a:extLst>
          </p:cNvPr>
          <p:cNvSpPr>
            <a:spLocks noGrp="1"/>
          </p:cNvSpPr>
          <p:nvPr>
            <p:ph type="title"/>
          </p:nvPr>
        </p:nvSpPr>
        <p:spPr/>
        <p:txBody>
          <a:bodyPr/>
          <a:lstStyle/>
          <a:p>
            <a:r>
              <a:rPr lang="en-US" dirty="0"/>
              <a:t>Generative AI Policy / Permissible Use</a:t>
            </a:r>
          </a:p>
        </p:txBody>
      </p:sp>
      <p:sp>
        <p:nvSpPr>
          <p:cNvPr id="3" name="Content Placeholder 2">
            <a:extLst>
              <a:ext uri="{FF2B5EF4-FFF2-40B4-BE49-F238E27FC236}">
                <a16:creationId xmlns:a16="http://schemas.microsoft.com/office/drawing/2014/main" id="{439FEB7E-5A8B-34B3-FDB4-3942856BDF48}"/>
              </a:ext>
            </a:extLst>
          </p:cNvPr>
          <p:cNvSpPr>
            <a:spLocks noGrp="1"/>
          </p:cNvSpPr>
          <p:nvPr>
            <p:ph idx="1"/>
          </p:nvPr>
        </p:nvSpPr>
        <p:spPr>
          <a:xfrm>
            <a:off x="409903" y="1651883"/>
            <a:ext cx="11529849" cy="4575175"/>
          </a:xfrm>
        </p:spPr>
        <p:txBody>
          <a:bodyPr>
            <a:normAutofit fontScale="62500" lnSpcReduction="20000"/>
          </a:bodyPr>
          <a:lstStyle/>
          <a:p>
            <a:r>
              <a:rPr lang="en-US" sz="4000" dirty="0"/>
              <a:t>Students may use Generative AI tools to support their work in the following ways:</a:t>
            </a:r>
          </a:p>
          <a:p>
            <a:r>
              <a:rPr lang="en-US" sz="4000" dirty="0"/>
              <a:t>Idea Generation &amp; Brainstorming</a:t>
            </a:r>
            <a:br>
              <a:rPr lang="en-US" dirty="0"/>
            </a:br>
            <a:r>
              <a:rPr lang="en-US" dirty="0"/>
              <a:t>Exploring potential research questions, framing problem statements, or identifying data sources.</a:t>
            </a:r>
          </a:p>
          <a:p>
            <a:r>
              <a:rPr lang="en-US" sz="4000" dirty="0"/>
              <a:t>Writing Assistance</a:t>
            </a:r>
            <a:br>
              <a:rPr lang="en-US" dirty="0"/>
            </a:br>
            <a:r>
              <a:rPr lang="en-US" dirty="0"/>
              <a:t>Improving grammar, clarity, formatting, and organization of sections after original content has been drafted by the student.</a:t>
            </a:r>
          </a:p>
          <a:p>
            <a:r>
              <a:rPr lang="en-US" sz="4000" dirty="0"/>
              <a:t>Code Support</a:t>
            </a:r>
            <a:br>
              <a:rPr lang="en-US" dirty="0"/>
            </a:br>
            <a:r>
              <a:rPr lang="en-US" dirty="0"/>
              <a:t>Writing, debugging, or documenting code as long as students understand, verify, and cite AI-generated code appropriately.</a:t>
            </a:r>
          </a:p>
          <a:p>
            <a:r>
              <a:rPr lang="en-US" sz="4000" dirty="0"/>
              <a:t>Visualization Help</a:t>
            </a:r>
            <a:br>
              <a:rPr lang="en-US" dirty="0"/>
            </a:br>
            <a:r>
              <a:rPr lang="en-US" dirty="0"/>
              <a:t>Recommending visualization libraries or approaches (e.g., suggesting Seaborn vs. </a:t>
            </a:r>
            <a:r>
              <a:rPr lang="en-US" dirty="0" err="1"/>
              <a:t>Plotly</a:t>
            </a:r>
            <a:r>
              <a:rPr lang="en-US" dirty="0"/>
              <a:t> for specific use cases).</a:t>
            </a:r>
          </a:p>
          <a:p>
            <a:r>
              <a:rPr lang="en-US" sz="4000" dirty="0"/>
              <a:t>Presentation Preparation</a:t>
            </a:r>
            <a:br>
              <a:rPr lang="en-US" dirty="0"/>
            </a:br>
            <a:r>
              <a:rPr lang="en-US" dirty="0"/>
              <a:t>Helping outline slide decks, suggest slide titles, or simulate Q&amp;A sessions in preparation for live or recorded presentations.</a:t>
            </a:r>
          </a:p>
          <a:p>
            <a:endParaRPr lang="en-US" dirty="0"/>
          </a:p>
        </p:txBody>
      </p:sp>
      <p:sp>
        <p:nvSpPr>
          <p:cNvPr id="4" name="TextBox 3">
            <a:extLst>
              <a:ext uri="{FF2B5EF4-FFF2-40B4-BE49-F238E27FC236}">
                <a16:creationId xmlns:a16="http://schemas.microsoft.com/office/drawing/2014/main" id="{7A290565-F7E8-D82E-E6B0-9DCFB5A97BD6}"/>
              </a:ext>
            </a:extLst>
          </p:cNvPr>
          <p:cNvSpPr txBox="1"/>
          <p:nvPr/>
        </p:nvSpPr>
        <p:spPr>
          <a:xfrm>
            <a:off x="0" y="5512033"/>
            <a:ext cx="12192000" cy="1261884"/>
          </a:xfrm>
          <a:prstGeom prst="rect">
            <a:avLst/>
          </a:prstGeom>
          <a:noFill/>
        </p:spPr>
        <p:txBody>
          <a:bodyPr wrap="square" rtlCol="0">
            <a:spAutoFit/>
          </a:bodyPr>
          <a:lstStyle/>
          <a:p>
            <a:r>
              <a:rPr lang="en-US" dirty="0"/>
              <a:t>The overarching spirit of this policy:  This work must be the result of your ideas, your creativity, your research and your effort. It is impossible to make perfect rules to ensure the work is genuinely yours.  </a:t>
            </a:r>
          </a:p>
          <a:p>
            <a:endParaRPr lang="en-US" dirty="0"/>
          </a:p>
          <a:p>
            <a:r>
              <a:rPr lang="en-US" sz="2200" b="1" dirty="0"/>
              <a:t>The is requirement is that this is genuinely the student’s ideas, research, creativity and effort. </a:t>
            </a:r>
          </a:p>
        </p:txBody>
      </p:sp>
    </p:spTree>
    <p:extLst>
      <p:ext uri="{BB962C8B-B14F-4D97-AF65-F5344CB8AC3E}">
        <p14:creationId xmlns:p14="http://schemas.microsoft.com/office/powerpoint/2010/main" val="1214142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D10EE-4C80-58BE-0644-E86E4C482B60}"/>
              </a:ext>
            </a:extLst>
          </p:cNvPr>
          <p:cNvSpPr>
            <a:spLocks noGrp="1"/>
          </p:cNvSpPr>
          <p:nvPr>
            <p:ph type="title"/>
          </p:nvPr>
        </p:nvSpPr>
        <p:spPr>
          <a:xfrm>
            <a:off x="4643718" y="4388862"/>
            <a:ext cx="7548282" cy="398099"/>
          </a:xfrm>
        </p:spPr>
        <p:txBody>
          <a:bodyPr>
            <a:normAutofit fontScale="90000"/>
          </a:bodyPr>
          <a:lstStyle/>
          <a:p>
            <a:pPr algn="ctr"/>
            <a:r>
              <a:rPr lang="en-US" dirty="0"/>
              <a:t>Have a blast! </a:t>
            </a:r>
            <a:br>
              <a:rPr lang="en-US" dirty="0"/>
            </a:br>
            <a:endParaRPr lang="en-US" dirty="0"/>
          </a:p>
        </p:txBody>
      </p:sp>
      <p:pic>
        <p:nvPicPr>
          <p:cNvPr id="4" name="Picture 3">
            <a:extLst>
              <a:ext uri="{FF2B5EF4-FFF2-40B4-BE49-F238E27FC236}">
                <a16:creationId xmlns:a16="http://schemas.microsoft.com/office/drawing/2014/main" id="{C149D1E9-DED2-E4F6-792B-B44CD82B8B69}"/>
              </a:ext>
            </a:extLst>
          </p:cNvPr>
          <p:cNvPicPr>
            <a:picLocks noChangeAspect="1"/>
          </p:cNvPicPr>
          <p:nvPr/>
        </p:nvPicPr>
        <p:blipFill>
          <a:blip r:embed="rId2"/>
          <a:stretch>
            <a:fillRect/>
          </a:stretch>
        </p:blipFill>
        <p:spPr>
          <a:xfrm>
            <a:off x="5293659" y="5468171"/>
            <a:ext cx="6248400" cy="939800"/>
          </a:xfrm>
          <a:prstGeom prst="rect">
            <a:avLst/>
          </a:prstGeom>
        </p:spPr>
      </p:pic>
      <p:pic>
        <p:nvPicPr>
          <p:cNvPr id="1026" name="Picture 2" descr="What is a masterpiece? The making of a masterpiece">
            <a:extLst>
              <a:ext uri="{FF2B5EF4-FFF2-40B4-BE49-F238E27FC236}">
                <a16:creationId xmlns:a16="http://schemas.microsoft.com/office/drawing/2014/main" id="{9F6265F9-402D-1F43-1FD5-4049F20440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323" r="27255"/>
          <a:stretch>
            <a:fillRect/>
          </a:stretch>
        </p:blipFill>
        <p:spPr bwMode="auto">
          <a:xfrm>
            <a:off x="0" y="0"/>
            <a:ext cx="4244788"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BC337C1-4771-D726-0D82-72FD3E6B6E9B}"/>
              </a:ext>
            </a:extLst>
          </p:cNvPr>
          <p:cNvSpPr txBox="1"/>
          <p:nvPr/>
        </p:nvSpPr>
        <p:spPr>
          <a:xfrm>
            <a:off x="5368739" y="4760285"/>
            <a:ext cx="6098240" cy="707886"/>
          </a:xfrm>
          <a:prstGeom prst="rect">
            <a:avLst/>
          </a:prstGeom>
          <a:noFill/>
        </p:spPr>
        <p:txBody>
          <a:bodyPr wrap="square">
            <a:spAutoFit/>
          </a:bodyPr>
          <a:lstStyle/>
          <a:p>
            <a:pPr algn="ctr"/>
            <a:r>
              <a:rPr lang="en-US" sz="4000" dirty="0"/>
              <a:t>Make This Your </a:t>
            </a:r>
          </a:p>
        </p:txBody>
      </p:sp>
      <p:pic>
        <p:nvPicPr>
          <p:cNvPr id="1030" name="Picture 6" descr="Famous Art Masterpieces and their Interesting Stories">
            <a:extLst>
              <a:ext uri="{FF2B5EF4-FFF2-40B4-BE49-F238E27FC236}">
                <a16:creationId xmlns:a16="http://schemas.microsoft.com/office/drawing/2014/main" id="{6F76D9FE-187E-BD94-4E2F-F6AA836B83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788" y="0"/>
            <a:ext cx="7947212" cy="3820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02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nodeType="with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3002</TotalTime>
  <Words>1167</Words>
  <Application>Microsoft Macintosh PowerPoint</Application>
  <PresentationFormat>Widescreen</PresentationFormat>
  <Paragraphs>101</Paragraphs>
  <Slides>14</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Capstone Orientation</vt:lpstr>
      <vt:lpstr>DS 6210</vt:lpstr>
      <vt:lpstr>DS 6210: Details</vt:lpstr>
      <vt:lpstr>Deliverables / Due Monday, January 12</vt:lpstr>
      <vt:lpstr>Problem Statement</vt:lpstr>
      <vt:lpstr>Problem Statement</vt:lpstr>
      <vt:lpstr>Problem Statement</vt:lpstr>
      <vt:lpstr>Data</vt:lpstr>
      <vt:lpstr>Advisor</vt:lpstr>
      <vt:lpstr>Individual or Group</vt:lpstr>
      <vt:lpstr>Literature Review</vt:lpstr>
      <vt:lpstr>Generative AI Policy</vt:lpstr>
      <vt:lpstr>Generative AI Policy / Permissible Use</vt:lpstr>
      <vt:lpstr>Have a blast!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Sadler, Bivin Philip</dc:creator>
  <cp:lastModifiedBy>Bivin Sadler</cp:lastModifiedBy>
  <cp:revision>5</cp:revision>
  <dcterms:created xsi:type="dcterms:W3CDTF">2025-06-23T16:24:19Z</dcterms:created>
  <dcterms:modified xsi:type="dcterms:W3CDTF">2025-11-25T01:31:47Z</dcterms:modified>
</cp:coreProperties>
</file>